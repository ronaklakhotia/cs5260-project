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10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2743200"/>
            <a:ext cx="4572000" cy="4572000"/>
          </a:xfrm>
          <a:prstGeom prst="ellipse">
            <a:avLst/>
          </a:prstGeom>
          <a:solidFill>
            <a:srgbClr val="0F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3657600"/>
            <a:ext cx="3200400" cy="3200400"/>
          </a:xfrm>
          <a:prstGeom prst="ellipse">
            <a:avLst/>
          </a:prstGeom>
          <a:solidFill>
            <a:srgbClr val="0E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" cy="2011680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56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YTSage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400" b="0" i="0">
                <a:solidFill>
                  <a:srgbClr val="0EB5A8"/>
                </a:solidFill>
                <a:latin typeface="Georgia" panose="02040502050405090303"/>
              </a:defRPr>
            </a:pPr>
            <a:r>
              <a:t>AI-Powered YouTube Lecture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Agentic video summarization with LangGraph, GPT-4o,</a:t>
            </a:r>
            <a:br/>
            <a:r>
              <a:t>and Retrieval-Augmented Generation for interactive Q&amp;A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3657600" cy="731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0">
                <a:solidFill>
                  <a:srgbClr val="8B95A8"/>
                </a:solidFill>
                <a:latin typeface="Calibri"/>
              </a:defRPr>
            </a:pPr>
            <a:r>
              <a:t>CS5260  ·  Neural Networks &amp; Deep Learning  · 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Ronak Lakhotia (A0161401Y)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Shivansh Srivastava (A0328697H)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Why automate lecture synthesis?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943600" cy="105156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01851"/>
            <a:ext cx="5669280" cy="36576"/>
          </a:xfrm>
          <a:prstGeom prst="rect">
            <a:avLst/>
          </a:prstGeom>
          <a:solidFill>
            <a:srgbClr val="F4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600" b="1" i="0">
                <a:solidFill>
                  <a:srgbClr val="F4725C"/>
                </a:solidFill>
                <a:latin typeface="Georgia" panose="02040502050405090303"/>
              </a:defRPr>
            </a:pPr>
            <a:r>
              <a:t>Information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A single MIT OCW lecture is 50-90 minutes. Students lack tools to</a:t>
            </a:r>
            <a:br/>
            <a:r>
              <a:t>extract structured, visual takeaways from long-form educational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143000"/>
            <a:ext cx="2011680" cy="960120"/>
          </a:xfrm>
          <a:prstGeom prst="roundRect">
            <a:avLst/>
          </a:prstGeom>
          <a:solidFill>
            <a:srgbClr val="1C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17043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3400" b="1" i="0">
                <a:solidFill>
                  <a:srgbClr val="F4725C"/>
                </a:solidFill>
                <a:latin typeface="Georgia" panose="02040502050405090303"/>
              </a:defRPr>
            </a:pPr>
            <a:r>
              <a:t>60–90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6420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000" b="0" i="0">
                <a:solidFill>
                  <a:srgbClr val="8B95A8"/>
                </a:solidFill>
                <a:latin typeface="Calibri"/>
              </a:defRPr>
            </a:pPr>
            <a:r>
              <a:t>min avg.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04288"/>
            <a:ext cx="5943600" cy="105156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08860"/>
            <a:ext cx="5669280" cy="36576"/>
          </a:xfrm>
          <a:prstGeom prst="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600" b="1" i="0">
                <a:solidFill>
                  <a:srgbClr val="F5BF03"/>
                </a:solidFill>
                <a:latin typeface="Georgia" panose="02040502050405090303"/>
              </a:defRPr>
            </a:pPr>
            <a:r>
              <a:t>Passive Watching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Without interaction, viewers retain only 10-20% of content.</a:t>
            </a:r>
            <a:br/>
            <a:r>
              <a:t>No way to ask follow-up questions grounded in the actual transcript.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350008"/>
            <a:ext cx="2011680" cy="960120"/>
          </a:xfrm>
          <a:prstGeom prst="roundRect">
            <a:avLst/>
          </a:prstGeom>
          <a:solidFill>
            <a:srgbClr val="1C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3774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3400" b="1" i="0">
                <a:solidFill>
                  <a:srgbClr val="F5BF03"/>
                </a:solidFill>
                <a:latin typeface="Georgia" panose="02040502050405090303"/>
              </a:defRPr>
            </a:pPr>
            <a:r>
              <a:t>10–20%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7121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000" b="0" i="0">
                <a:solidFill>
                  <a:srgbClr val="8B95A8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11296"/>
            <a:ext cx="5943600" cy="105156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515868"/>
            <a:ext cx="566928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75887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600" b="1" i="0">
                <a:solidFill>
                  <a:srgbClr val="A78BFA"/>
                </a:solidFill>
                <a:latin typeface="Georgia" panose="02040502050405090303"/>
              </a:defRPr>
            </a:pPr>
            <a:r>
              <a:t>No Visual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86783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Current tools (chapters, auto-captions) provide plain text only.</a:t>
            </a:r>
            <a:br/>
            <a:r>
              <a:t>No system generates visual infographic summaries from lectures.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557015"/>
            <a:ext cx="2011680" cy="960120"/>
          </a:xfrm>
          <a:prstGeom prst="roundRect">
            <a:avLst/>
          </a:prstGeom>
          <a:solidFill>
            <a:srgbClr val="1C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58444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3400" b="1" i="0">
                <a:solidFill>
                  <a:srgbClr val="A78BFA"/>
                </a:solidFill>
                <a:latin typeface="Georgia" panose="02040502050405090303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7822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000" b="0" i="0">
                <a:solidFill>
                  <a:srgbClr val="8B95A8"/>
                </a:solidFill>
                <a:latin typeface="Calibri"/>
              </a:defRPr>
            </a:pPr>
            <a:r>
              <a:t>existing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Two outputs from a single YouTube URL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931920" cy="33832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01851"/>
            <a:ext cx="3657600" cy="36576"/>
          </a:xfrm>
          <a:prstGeom prst="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600" b="1" i="0">
                <a:solidFill>
                  <a:srgbClr val="F5BF03"/>
                </a:solidFill>
                <a:latin typeface="Georgia" panose="02040502050405090303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344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8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Visual Infographic</a:t>
            </a:r>
            <a:br/>
            <a:r>
              <a:t>Slideshow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0">
                <a:solidFill>
                  <a:srgbClr val="8B95A8"/>
                </a:solidFill>
                <a:latin typeface="Calibri"/>
              </a:defRPr>
            </a:pPr>
            <a:r>
              <a:t>Identifies the top 3 educational concepts</a:t>
            </a:r>
            <a:br/>
            <a:r>
              <a:t>in a video, generates 2 AI infographic slides</a:t>
            </a:r>
            <a:br/>
            <a:r>
              <a:t>per concept, and stitches all 6 into a</a:t>
            </a:r>
            <a:br/>
            <a:r>
              <a:t>vertical MP4 slideshow.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4A5568"/>
                </a:solidFill>
                <a:latin typeface="Calibri"/>
              </a:defRPr>
            </a:pPr>
            <a:r>
              <a:t>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9718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0EB5A8"/>
                </a:solidFill>
                <a:latin typeface="Calibri"/>
              </a:defRPr>
            </a:pPr>
            <a:r>
              <a:t>1080×1920 MP4, H.264, 24fps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9544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4A5568"/>
                </a:solidFill>
                <a:latin typeface="Calibri"/>
              </a:defRPr>
            </a:pPr>
            <a:r>
              <a:t>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20954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0EB5A8"/>
                </a:solidFill>
                <a:latin typeface="Calibri"/>
              </a:defRPr>
            </a:pPr>
            <a:r>
              <a:t>6 slides × 5 seconds = 30s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47287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4A5568"/>
                </a:solidFill>
                <a:latin typeface="Calibri"/>
              </a:defRPr>
            </a:pPr>
            <a:r>
              <a:t>AI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447287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0EB5A8"/>
                </a:solidFill>
                <a:latin typeface="Calibri"/>
              </a:defRPr>
            </a:pPr>
            <a:r>
              <a:t>GPT-4o + Nano Banana Pro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097280"/>
            <a:ext cx="3931920" cy="33832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1101851"/>
            <a:ext cx="3657600" cy="36576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280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600" b="1" i="0">
                <a:solidFill>
                  <a:srgbClr val="0EB5A8"/>
                </a:solidFill>
                <a:latin typeface="Georgia" panose="02040502050405090303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12344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8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RAG-Powered</a:t>
            </a:r>
            <a:br/>
            <a:r>
              <a:t>Interactive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96596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0">
                <a:solidFill>
                  <a:srgbClr val="8B95A8"/>
                </a:solidFill>
                <a:latin typeface="Calibri"/>
              </a:defRPr>
            </a:pPr>
            <a:r>
              <a:t>Embeds the transcript into a vector store,</a:t>
            </a:r>
            <a:br/>
            <a:r>
              <a:t>then enables session-based Q&amp;A grounded</a:t>
            </a:r>
            <a:br/>
            <a:r>
              <a:t>in the video. Supports streaming responses</a:t>
            </a:r>
            <a:br/>
            <a:r>
              <a:t>and conversation memory.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9718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4A5568"/>
                </a:solidFill>
                <a:latin typeface="Calibri"/>
              </a:defRPr>
            </a:pPr>
            <a:r>
              <a:t>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97180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0EB5A8"/>
                </a:solidFill>
                <a:latin typeface="Calibri"/>
              </a:defRPr>
            </a:pPr>
            <a:r>
              <a:t>Top-5 chunks, cosine similarity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09544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4A5568"/>
                </a:solidFill>
                <a:latin typeface="Calibri"/>
              </a:defRPr>
            </a:pPr>
            <a:r>
              <a:t>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20954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0EB5A8"/>
                </a:solidFill>
                <a:latin typeface="Calibri"/>
              </a:defRPr>
            </a:pPr>
            <a:r>
              <a:t>50K token sliding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447287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4A5568"/>
                </a:solidFill>
                <a:latin typeface="Calibri"/>
              </a:defRPr>
            </a:pPr>
            <a:r>
              <a:t>Streaming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447287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0EB5A8"/>
                </a:solidFill>
                <a:latin typeface="Calibri"/>
              </a:defRPr>
            </a:pPr>
            <a:r>
              <a:t>Server-Sent Events (SSE)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Two parallel pipelines sharing core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51560"/>
            <a:ext cx="2743200" cy="457200"/>
          </a:xfrm>
          <a:prstGeom prst="round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500" b="1" i="0">
                <a:solidFill>
                  <a:srgbClr val="0D111E"/>
                </a:solidFill>
                <a:latin typeface="Georgia" panose="02040502050405090303"/>
              </a:defRPr>
            </a:pPr>
            <a:r>
              <a:t>YouTube 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087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600" b="0" i="0">
                <a:solidFill>
                  <a:srgbClr val="0EB5A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6949440" cy="457200"/>
          </a:xfrm>
          <a:prstGeom prst="roundRect">
            <a:avLst/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1892807"/>
            <a:ext cx="777240" cy="201168"/>
          </a:xfrm>
          <a:prstGeom prst="round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911095"/>
            <a:ext cx="7772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1" i="0">
                <a:solidFill>
                  <a:srgbClr val="0D111E"/>
                </a:solidFill>
                <a:latin typeface="Calibri"/>
              </a:defRPr>
            </a:pPr>
            <a:r>
              <a:t>SHARED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01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yt-dlp Metadata   ·   Transcript (4-level fallback)   ·   ChromaDB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400" b="0" i="0">
                <a:solidFill>
                  <a:srgbClr val="F5BF03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860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400" b="0" i="0">
                <a:solidFill>
                  <a:srgbClr val="0EB5A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06040"/>
            <a:ext cx="3977639" cy="214884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10612"/>
            <a:ext cx="3703320" cy="36576"/>
          </a:xfrm>
          <a:prstGeom prst="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724912"/>
            <a:ext cx="1691640" cy="219456"/>
          </a:xfrm>
          <a:prstGeom prst="round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900" b="1" i="0">
                <a:solidFill>
                  <a:srgbClr val="0D111E"/>
                </a:solidFill>
                <a:latin typeface="Calibri"/>
              </a:defRPr>
            </a:pPr>
            <a:r>
              <a:t>VIDEO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432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900" b="0" i="1">
                <a:solidFill>
                  <a:srgbClr val="4A5568"/>
                </a:solidFill>
                <a:latin typeface="Calibri"/>
              </a:defRPr>
            </a:pPr>
            <a:r>
              <a:t>LangGraph StateGraph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0896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›  Ingest → extract &amp; chunk transcript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0156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›  Planner → GPT-4o selects top 3 concepts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›  Script Writer → 2 infographic prompts 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86784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›  Video Gen → AI images → ffmpeg MP4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606040"/>
            <a:ext cx="3977639" cy="214884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610612"/>
            <a:ext cx="3703320" cy="36576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37760" y="2724912"/>
            <a:ext cx="1508760" cy="219456"/>
          </a:xfrm>
          <a:prstGeom prst="round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274320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900" b="1" i="0">
                <a:solidFill>
                  <a:srgbClr val="0D111E"/>
                </a:solidFill>
                <a:latin typeface="Calibri"/>
              </a:defRPr>
            </a:pPr>
            <a:r>
              <a:t>CHAT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7432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900" b="0" i="1">
                <a:solidFill>
                  <a:srgbClr val="4A5568"/>
                </a:solidFill>
                <a:latin typeface="Calibri"/>
              </a:defRPr>
            </a:pPr>
            <a:r>
              <a:t>SSE + Session-based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10896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›  Ingest → metadata + structured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40156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›  Embed → semantic chunks into ChromaDB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694176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›  Chat → 5-chunk retrieval + GPT-4o 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986784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›  Memory → sliding window + summarization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Video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LangGraph StateGraph with conditional error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874519" cy="228600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01851"/>
            <a:ext cx="1600199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8" y="1280160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0D111E"/>
                </a:solidFill>
                <a:latin typeface="Georgia" panose="02040502050405090303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6187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4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Extract transcript</a:t>
            </a:r>
            <a:br/>
            <a:r>
              <a:t>4-level fallback</a:t>
            </a:r>
            <a:br/>
            <a:r>
              <a:t>Chunk + 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20116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2200" b="0" i="0">
                <a:solidFill>
                  <a:srgbClr val="4A556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097280"/>
            <a:ext cx="1874519" cy="228600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79" y="1101851"/>
            <a:ext cx="1600199" cy="36576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0048" y="1280160"/>
            <a:ext cx="347472" cy="347472"/>
          </a:xfrm>
          <a:prstGeom prst="ellipse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0D111E"/>
                </a:solidFill>
                <a:latin typeface="Georgia" panose="02040502050405090303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126187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4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173736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RAG: 15 chunks</a:t>
            </a:r>
            <a:br/>
            <a:r>
              <a:t>GPT-4o (t=0.3)</a:t>
            </a:r>
            <a:br/>
            <a:r>
              <a:t>Top 3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2200" b="0" i="0">
                <a:solidFill>
                  <a:srgbClr val="4A556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097280"/>
            <a:ext cx="1874519" cy="228600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2040" y="1101851"/>
            <a:ext cx="1600199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4608" y="1280160"/>
            <a:ext cx="347472" cy="34747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0D111E"/>
                </a:solidFill>
                <a:latin typeface="Georgia" panose="02040502050405090303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26187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4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Script Writer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173736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GPT-4o (t=0.4)</a:t>
            </a:r>
            <a:br/>
            <a:r>
              <a:t>2 prompts/concept</a:t>
            </a:r>
            <a:br/>
            <a:r>
              <a:t>9:16 vertical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0116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2200" b="0" i="0">
                <a:solidFill>
                  <a:srgbClr val="4A556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097280"/>
            <a:ext cx="1874519" cy="228600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86600" y="1101851"/>
            <a:ext cx="1600199" cy="36576"/>
          </a:xfrm>
          <a:prstGeom prst="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59168" y="1280160"/>
            <a:ext cx="347472" cy="347472"/>
          </a:xfrm>
          <a:prstGeom prst="ellipse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0D111E"/>
                </a:solidFill>
                <a:latin typeface="Georgia" panose="02040502050405090303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26187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4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Video 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173736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Nano Banana Pro</a:t>
            </a:r>
            <a:br/>
            <a:r>
              <a:t>3 retries + backoff</a:t>
            </a:r>
            <a:br/>
            <a:r>
              <a:t>ffmpeg stitch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57600"/>
            <a:ext cx="4114800" cy="548640"/>
          </a:xfrm>
          <a:prstGeom prst="roundRect">
            <a:avLst/>
          </a:prstGeom>
          <a:solidFill>
            <a:srgbClr val="2D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3662172"/>
            <a:ext cx="3840480" cy="36576"/>
          </a:xfrm>
          <a:prstGeom prst="rect">
            <a:avLst/>
          </a:prstGeom>
          <a:solidFill>
            <a:srgbClr val="F4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3749039"/>
            <a:ext cx="1417320" cy="201168"/>
          </a:xfrm>
          <a:prstGeom prst="roundRect">
            <a:avLst/>
          </a:prstGeom>
          <a:solidFill>
            <a:srgbClr val="F4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6732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1" i="0">
                <a:solidFill>
                  <a:srgbClr val="0D111E"/>
                </a:solidFill>
                <a:latin typeface="Calibri"/>
              </a:defRPr>
            </a:pPr>
            <a:r>
              <a:t>ERROR ROUTING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374903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Checks state["status"] → short-circuits to 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3657600"/>
            <a:ext cx="3840480" cy="54864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83480" y="3662172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0" y="3749039"/>
            <a:ext cx="822960" cy="20116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376732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1" i="0">
                <a:solidFill>
                  <a:srgbClr val="0D111E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37673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1080×1920 MP4  ·  6 slides  ·  5s each  ·  H.264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Transcript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4-level fallback chain with semantic chunking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023360" cy="352044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8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Fallback Chain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73736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0D111E"/>
                </a:solidFill>
                <a:latin typeface="Georgia" panose="02040502050405090303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5564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1" i="0">
                <a:solidFill>
                  <a:srgbClr val="E2E8F0"/>
                </a:solidFill>
                <a:latin typeface="Georgia" panose="02040502050405090303"/>
              </a:defRPr>
            </a:pPr>
            <a:r>
              <a:t>English Captions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7510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YouTube manual/auto subs — free, fastest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2140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100" b="0" i="0">
                <a:solidFill>
                  <a:srgbClr val="4A5568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240280"/>
            <a:ext cx="274320" cy="274320"/>
          </a:xfrm>
          <a:prstGeom prst="ellipse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0D111E"/>
                </a:solidFill>
                <a:latin typeface="Georgia" panose="02040502050405090303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585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1" i="0">
                <a:solidFill>
                  <a:srgbClr val="E2E8F0"/>
                </a:solidFill>
                <a:latin typeface="Georgia" panose="02040502050405090303"/>
              </a:defRPr>
            </a:pPr>
            <a:r>
              <a:t>Translated Captions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7802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Any language → English via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6243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100" b="0" i="0">
                <a:solidFill>
                  <a:srgbClr val="4A5568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43200"/>
            <a:ext cx="274320" cy="274320"/>
          </a:xfrm>
          <a:prstGeom prst="ellipse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0D111E"/>
                </a:solidFill>
                <a:latin typeface="Georgia" panose="02040502050405090303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614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1" i="0">
                <a:solidFill>
                  <a:srgbClr val="E2E8F0"/>
                </a:solidFill>
                <a:latin typeface="Georgia" panose="02040502050405090303"/>
              </a:defRPr>
            </a:pPr>
            <a:r>
              <a:t>Raw Captions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98094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Any language without translation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2724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100" b="0" i="0">
                <a:solidFill>
                  <a:srgbClr val="4A5568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46120"/>
            <a:ext cx="274320" cy="274320"/>
          </a:xfrm>
          <a:prstGeom prst="ellipse">
            <a:avLst/>
          </a:prstGeom>
          <a:solidFill>
            <a:srgbClr val="F4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0D111E"/>
                </a:solidFill>
                <a:latin typeface="Georgia" panose="02040502050405090303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6440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1" i="0">
                <a:solidFill>
                  <a:srgbClr val="E2E8F0"/>
                </a:solidFill>
                <a:latin typeface="Georgia" panose="02040502050405090303"/>
              </a:defRPr>
            </a:pPr>
            <a:r>
              <a:t>Whisper STT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83863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Download audio → OpenAI Whisper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097280"/>
            <a:ext cx="4023360" cy="15544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00600" y="1101851"/>
            <a:ext cx="37490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280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6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Semantic 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164592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1. Temporal merge: raw captions → ~15s blocks</a:t>
            </a:r>
            <a:br/>
            <a:r>
              <a:t>2. RecursiveCharacterTextSplitter (LangChain)</a:t>
            </a:r>
            <a:br/>
            <a:r>
              <a:t>    chunk_size=1500, overlap=200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2834640"/>
            <a:ext cx="4023360" cy="17830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2839212"/>
            <a:ext cx="3749040" cy="36576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3017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6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ChromaDB Vector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383280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4A5568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38328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0EB5A8"/>
                </a:solidFill>
                <a:latin typeface="Calibri"/>
              </a:defRPr>
            </a:pPr>
            <a:r>
              <a:t>text-embedding-3-small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630168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4A5568"/>
                </a:solidFill>
                <a:latin typeface="Calibri"/>
              </a:defRPr>
            </a:pPr>
            <a:r>
              <a:t>Distance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63016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0EB5A8"/>
                </a:solidFill>
                <a:latin typeface="Calibri"/>
              </a:defRPr>
            </a:pPr>
            <a:r>
              <a:t>Cosine similarity (HNSW)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87705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4A5568"/>
                </a:solidFill>
                <a:latin typeface="Calibri"/>
              </a:defRPr>
            </a:pPr>
            <a:r>
              <a:t>Collection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87705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0EB5A8"/>
                </a:solidFill>
                <a:latin typeface="Calibri"/>
              </a:defRPr>
            </a:pPr>
            <a:r>
              <a:t>yt_{video_id} — one per 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12394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4A5568"/>
                </a:solidFill>
                <a:latin typeface="Calibri"/>
              </a:defRPr>
            </a:pPr>
            <a:r>
              <a:t>Metadata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12394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0EB5A8"/>
                </a:solidFill>
                <a:latin typeface="Calibri"/>
              </a:defRPr>
            </a:pPr>
            <a:r>
              <a:t>timestamps, title, channel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From Concepts to Infographics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Planner  →  Script Writer  →  Image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560320" cy="301752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01851"/>
            <a:ext cx="2286000" cy="36576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200" b="1" i="0">
                <a:solidFill>
                  <a:srgbClr val="0EB5A8"/>
                </a:solidFill>
                <a:latin typeface="Georgia" panose="02040502050405090303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344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Planner</a:t>
            </a:r>
            <a:br/>
            <a: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Retrieves 15 RAG chunks, calls GPT-4o (temp=0.3) to identify the top 3 concepts. Outputs title, timestamps, and visual description.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23774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2200" b="0" i="0">
                <a:solidFill>
                  <a:srgbClr val="4A556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97280"/>
            <a:ext cx="2560320" cy="301752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79" y="1101851"/>
            <a:ext cx="22860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28016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200" b="1" i="0">
                <a:solidFill>
                  <a:srgbClr val="A78BFA"/>
                </a:solidFill>
                <a:latin typeface="Georgia" panose="02040502050405090303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2344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Script</a:t>
            </a:r>
            <a:br/>
            <a:r>
              <a:t>Writer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20240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For each concept, generates 2 infographic prompts — overview and deep dive — for 9:16 vertical format. GPT-4o via Replicate (temp=0.4).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3774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2200" b="0" i="0">
                <a:solidFill>
                  <a:srgbClr val="4A556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097280"/>
            <a:ext cx="2560320" cy="301752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01851"/>
            <a:ext cx="2286000" cy="36576"/>
          </a:xfrm>
          <a:prstGeom prst="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28016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2200" b="1" i="0">
                <a:solidFill>
                  <a:srgbClr val="F5BF03"/>
                </a:solidFill>
                <a:latin typeface="Georgia" panose="02040502050405090303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2344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Image +</a:t>
            </a:r>
            <a:br/>
            <a:r>
              <a:t>Stitch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20240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Nano Banana Pro generates 6 images (2K). 3 retries with backoff. ffmpeg stitches into 1080×1920 MP4 at 5s per slide.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343400"/>
            <a:ext cx="5486400" cy="457200"/>
          </a:xfrm>
          <a:prstGeom prst="roundRect">
            <a:avLst/>
          </a:prstGeom>
          <a:solidFill>
            <a:srgbClr val="145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3708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300" b="1" i="0">
                <a:solidFill>
                  <a:srgbClr val="0EB5A8"/>
                </a:solidFill>
                <a:latin typeface="Calibri"/>
              </a:defRPr>
            </a:pPr>
            <a:r>
              <a:t>Total cost per video:  ~$0.55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3891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planner $0.02 + writer $0.02 + 6 images $0.50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RAG Chat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Session-based Q&amp;A with 6-layer context assembly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06240" cy="356616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8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Context Assembly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The LLM receives 6 layers of context: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920240"/>
            <a:ext cx="256032" cy="25603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E"/>
                </a:solidFill>
                <a:latin typeface="Georgia" panose="02040502050405090303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System prompt (persona + rules)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49424"/>
            <a:ext cx="256032" cy="25603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E"/>
                </a:solidFill>
                <a:latin typeface="Georgia" panose="02040502050405090303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6771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Video metadata (title, channel)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78608"/>
            <a:ext cx="256032" cy="256032"/>
          </a:xfrm>
          <a:prstGeom prst="ellipse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E"/>
                </a:solidFill>
                <a:latin typeface="Georgia" panose="02040502050405090303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9689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Structured summary (topics + takeaways)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07791"/>
            <a:ext cx="256032" cy="25603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E"/>
                </a:solidFill>
                <a:latin typeface="Georgia" panose="02040502050405090303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79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Running summary (overflowed history)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36975"/>
            <a:ext cx="256032" cy="25603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E"/>
                </a:solidFill>
                <a:latin typeface="Georgia" panose="02040502050405090303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3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Recent messages (within 50K budget)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566159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E"/>
                </a:solidFill>
                <a:latin typeface="Georgia" panose="02040502050405090303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84447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Top-5 RAG chunks (appended to query)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097280"/>
            <a:ext cx="3840480" cy="356616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2344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8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SSE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554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Server-Sent Events deliver responses in stages: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1938528"/>
            <a:ext cx="777240" cy="201168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1956816"/>
            <a:ext cx="7772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900" b="1" i="0">
                <a:solidFill>
                  <a:srgbClr val="0D111E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19385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Search transcript, review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60" y="2267712"/>
            <a:ext cx="777240" cy="201168"/>
          </a:xfrm>
          <a:prstGeom prst="round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2286000"/>
            <a:ext cx="7772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900" b="1" i="0">
                <a:solidFill>
                  <a:srgbClr val="0D111E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26771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5 RAG chunks with timestamps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2596896"/>
            <a:ext cx="777240" cy="201168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2615184"/>
            <a:ext cx="7772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900" b="1" i="0">
                <a:solidFill>
                  <a:srgbClr val="0D111E"/>
                </a:solidFill>
                <a:latin typeface="Calibri"/>
              </a:defRPr>
            </a:pPr>
            <a:r>
              <a:t>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59689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Token-by-token GPT-4o stream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2926079"/>
            <a:ext cx="777240" cy="20116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6360" y="2944368"/>
            <a:ext cx="7772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900" b="1" i="0">
                <a:solidFill>
                  <a:srgbClr val="0D111E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926079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Full response saved to SQLite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66360" y="3255263"/>
            <a:ext cx="777240" cy="201168"/>
          </a:xfrm>
          <a:prstGeom prst="roundRect">
            <a:avLst/>
          </a:prstGeom>
          <a:solidFill>
            <a:srgbClr val="F4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60" y="3273551"/>
            <a:ext cx="7772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900" b="1" i="0">
                <a:solidFill>
                  <a:srgbClr val="0D111E"/>
                </a:solidFill>
                <a:latin typeface="Calibri"/>
              </a:defRPr>
            </a:pPr>
            <a:r>
              <a:t>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255263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Graceful fallback handling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Conversation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Token-budget sliding window with rolling summaries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754880" cy="228600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8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YTSage never drops messages — it summarizes them.</a:t>
            </a:r>
            <a:br/>
            <a:r>
              <a:t>Older messages are compressed into a running summary</a:t>
            </a:r>
            <a:br/>
            <a:r>
              <a:t>via GPT-4o when the 50K token budget is exceeded.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194560"/>
            <a:ext cx="237744" cy="23774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E"/>
                </a:solidFill>
                <a:latin typeface="Georgia" panose="02040502050405090303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03703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Walk backward through messages, counting tokens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79"/>
            <a:ext cx="237744" cy="23774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E"/>
                </a:solidFill>
                <a:latin typeface="Georgia" panose="02040502050405090303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78023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Find cutoff where tokens exceed 50K budget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743199"/>
            <a:ext cx="237744" cy="23774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E"/>
                </a:solidFill>
                <a:latin typeface="Georgia" panose="02040502050405090303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52343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Summarize overflow into running_summary (GPT-4o)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017519"/>
            <a:ext cx="237744" cy="23774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E"/>
                </a:solidFill>
                <a:latin typeface="Georgia" panose="02040502050405090303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26663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E2E8F0"/>
                </a:solidFill>
                <a:latin typeface="Calibri"/>
              </a:defRPr>
            </a:pPr>
            <a:r>
              <a:t>Store summary_watermark to avoid re-computation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1097280"/>
            <a:ext cx="3291840" cy="2286000"/>
          </a:xfrm>
          <a:prstGeom prst="roundRect">
            <a:avLst/>
          </a:prstGeom>
          <a:solidFill>
            <a:srgbClr val="1C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1887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5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Context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1600200"/>
            <a:ext cx="2926080" cy="310896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1636776"/>
            <a:ext cx="54864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636776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E2E8F0"/>
                </a:solidFill>
                <a:latin typeface="Calibri"/>
              </a:defRPr>
            </a:pPr>
            <a:r>
              <a:t>System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1956816"/>
            <a:ext cx="2926080" cy="310896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96128" y="1993392"/>
            <a:ext cx="54864" cy="237744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99339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E2E8F0"/>
                </a:solidFill>
                <a:latin typeface="Calibri"/>
              </a:defRPr>
            </a:pPr>
            <a:r>
              <a:t>Video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2313432"/>
            <a:ext cx="2926080" cy="310896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96128" y="2350008"/>
            <a:ext cx="54864" cy="23774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35000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E2E8F0"/>
                </a:solidFill>
                <a:latin typeface="Calibri"/>
              </a:defRPr>
            </a:pPr>
            <a:r>
              <a:t>Running Summary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2670048"/>
            <a:ext cx="2926080" cy="310896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96128" y="2706624"/>
            <a:ext cx="54864" cy="2377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270662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E2E8F0"/>
                </a:solidFill>
                <a:latin typeface="Calibri"/>
              </a:defRPr>
            </a:pPr>
            <a:r>
              <a:t>Recent Messages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3026664"/>
            <a:ext cx="2926080" cy="310896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6128" y="3063240"/>
            <a:ext cx="54864" cy="23774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306324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E2E8F0"/>
                </a:solidFill>
                <a:latin typeface="Calibri"/>
              </a:defRPr>
            </a:pPr>
            <a:r>
              <a:t>RAG Chunks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657600"/>
            <a:ext cx="8229600" cy="8686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749039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Persistence: SQLite (WAL mode)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069080"/>
            <a:ext cx="7680960" cy="384048"/>
          </a:xfrm>
          <a:prstGeom prst="roundRect">
            <a:avLst/>
          </a:prstGeom>
          <a:solidFill>
            <a:srgbClr val="1C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096512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900" b="0" i="0">
                <a:solidFill>
                  <a:srgbClr val="0EB5A8"/>
                </a:solidFill>
                <a:latin typeface="Consolas"/>
              </a:defRPr>
            </a:pPr>
            <a:r>
              <a:t>sessions(chat_id, video_id, running_summary, watermark) | messages(id, chat_id, role, content)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5 specialized system prompts drive the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8229600" cy="8686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56131"/>
            <a:ext cx="7955279" cy="36576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88719"/>
            <a:ext cx="864108" cy="219456"/>
          </a:xfrm>
          <a:prstGeom prst="round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07007"/>
            <a:ext cx="864108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900" b="1" i="0">
                <a:solidFill>
                  <a:srgbClr val="0D111E"/>
                </a:solidFill>
                <a:latin typeface="Calibri"/>
              </a:defRPr>
            </a:pPr>
            <a:r>
              <a:t>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39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1">
                <a:solidFill>
                  <a:srgbClr val="E2E8F0"/>
                </a:solidFill>
                <a:latin typeface="Calibri"/>
              </a:defRPr>
            </a:pPr>
            <a:r>
              <a:t>"Identify top 3 most important, distinct concepts.</a:t>
            </a:r>
            <a:br/>
            <a:r>
              <a:t>Rank by educational value and explainability."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216151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onsolas"/>
              </a:defRPr>
            </a:pPr>
            <a:r>
              <a:t>t=0.3 · 1500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8229600" cy="8686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016252"/>
            <a:ext cx="7955279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1330452" cy="219456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1330452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900" b="1" i="0">
                <a:solidFill>
                  <a:srgbClr val="0D111E"/>
                </a:solidFill>
                <a:latin typeface="Calibri"/>
              </a:defRPr>
            </a:pPr>
            <a:r>
              <a:t>SCRIPT WRITER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1">
                <a:solidFill>
                  <a:srgbClr val="E2E8F0"/>
                </a:solidFill>
                <a:latin typeface="Calibri"/>
              </a:defRPr>
            </a:pPr>
            <a:r>
              <a:t>"Write concise 30-second narration scripts. Under 80 words.</a:t>
            </a:r>
            <a:br/>
            <a:r>
              <a:t>Start with a hook, end with memorable takeaway."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7627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onsolas"/>
              </a:defRPr>
            </a:pPr>
            <a:r>
              <a:t>t=0.4 · 2000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71800"/>
            <a:ext cx="8229600" cy="8686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976372"/>
            <a:ext cx="7955279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108960"/>
            <a:ext cx="864108" cy="219456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27248"/>
            <a:ext cx="864108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900" b="1" i="0">
                <a:solidFill>
                  <a:srgbClr val="0D111E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383280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1">
                <a:solidFill>
                  <a:srgbClr val="E2E8F0"/>
                </a:solidFill>
                <a:latin typeface="Calibri"/>
              </a:defRPr>
            </a:pPr>
            <a:r>
              <a:t>"Produce rich, human-readable summary. Detailed summary is</a:t>
            </a:r>
            <a:br/>
            <a:r>
              <a:t>most critical: include names, examples, anecdotes, data."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3639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onsolas"/>
              </a:defRPr>
            </a:pPr>
            <a:r>
              <a:t>t=0.3 · ChatOpenAI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8229600" cy="8686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936491"/>
            <a:ext cx="7955279" cy="36576"/>
          </a:xfrm>
          <a:prstGeom prst="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069080"/>
            <a:ext cx="630936" cy="219456"/>
          </a:xfrm>
          <a:prstGeom prst="round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8736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900" b="1" i="0">
                <a:solidFill>
                  <a:srgbClr val="0D111E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43400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1">
                <a:solidFill>
                  <a:srgbClr val="E2E8F0"/>
                </a:solidFill>
                <a:latin typeface="Calibri"/>
              </a:defRPr>
            </a:pPr>
            <a:r>
              <a:t>"Answer questions about a YouTube video. Cite timestamps</a:t>
            </a:r>
            <a:br/>
            <a:r>
              <a:t>using [MM:SS] format. If info unavailable, say so."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096511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onsolas"/>
              </a:defRPr>
            </a:pPr>
            <a:r>
              <a:t>t=0.3 · astream()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2560320" cy="164592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056131"/>
            <a:ext cx="228600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5272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60A5FA"/>
                </a:solidFill>
                <a:latin typeface="Georgia" panose="02040502050405090303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FastAPI + Uvicorn</a:t>
            </a:r>
            <a:br/>
            <a:r>
              <a:t>Pydantic-settings, async-first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51560"/>
            <a:ext cx="2560320" cy="164592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056131"/>
            <a:ext cx="2286000" cy="36576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5272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0EB5A8"/>
                </a:solidFill>
                <a:latin typeface="Georgia" panose="02040502050405090303"/>
              </a:defRPr>
            </a:pPr>
            <a:r>
              <a:t>AI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002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LangGraph (StateGraph)</a:t>
            </a:r>
            <a:br/>
            <a:r>
              <a:t>Conditional edges, error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51560"/>
            <a:ext cx="2560320" cy="164592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6131"/>
            <a:ext cx="22860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5272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A78BFA"/>
                </a:solidFill>
                <a:latin typeface="Georgia" panose="02040502050405090303"/>
              </a:defRPr>
            </a:pPr>
            <a:r>
              <a:t>LLM +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002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GPT-4o via Replicate + OpenAI</a:t>
            </a:r>
            <a:br/>
            <a:r>
              <a:t>Nano Banana Pro (images)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2560320" cy="164592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022091"/>
            <a:ext cx="2286000" cy="36576"/>
          </a:xfrm>
          <a:prstGeom prst="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1868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F5BF03"/>
                </a:solidFill>
                <a:latin typeface="Georgia" panose="02040502050405090303"/>
              </a:defRPr>
            </a:pPr>
            <a:r>
              <a:t>Vector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ChromaDB (PersistentClient)</a:t>
            </a:r>
            <a:br/>
            <a:r>
              <a:t>text-embedding-3-small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3017520"/>
            <a:ext cx="2560320" cy="164592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3022091"/>
            <a:ext cx="2286000" cy="36576"/>
          </a:xfrm>
          <a:prstGeom prst="rect">
            <a:avLst/>
          </a:prstGeom>
          <a:solidFill>
            <a:srgbClr val="F4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21868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F4725C"/>
                </a:solidFill>
                <a:latin typeface="Georgia" panose="02040502050405090303"/>
              </a:defRPr>
            </a:pPr>
            <a: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5661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Next.js 16 + React 19</a:t>
            </a:r>
            <a:br/>
            <a:r>
              <a:t>TypeScript, Tailwind CSS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017520"/>
            <a:ext cx="2560320" cy="164592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022091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21868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34D399"/>
                </a:solidFill>
                <a:latin typeface="Georgia" panose="02040502050405090303"/>
              </a:defRPr>
            </a:pPr>
            <a:r>
              <a:t>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5661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SQLite (WAL) + ChromaDB</a:t>
            </a:r>
            <a:br/>
            <a:r>
              <a:t>File cache (SHA256-keyed)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Deployment &amp; Running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Deployed on Google Compute Engine (asia-southeast1)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977639" cy="36118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56131"/>
            <a:ext cx="3703320" cy="36576"/>
          </a:xfrm>
          <a:prstGeom prst="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7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Per-Use API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F5BF03"/>
                </a:solidFill>
                <a:latin typeface="Calibri"/>
              </a:defRPr>
            </a:pPr>
            <a:r>
              <a:t>Video Pipeline (one full run)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Planner (GPT-4o)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0195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100" b="0" i="0">
                <a:solidFill>
                  <a:srgbClr val="E2E8F0"/>
                </a:solidFill>
                <a:latin typeface="Consolas"/>
              </a:defRPr>
            </a:pPr>
            <a:r>
              <a:t>$0.02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Script Writer (GPT-4o)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2140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100" b="0" i="0">
                <a:solidFill>
                  <a:srgbClr val="E2E8F0"/>
                </a:solidFill>
                <a:latin typeface="Consolas"/>
              </a:defRPr>
            </a:pPr>
            <a:r>
              <a:t>$0.02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40864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6 Nano Banana Pro imgs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34086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100" b="0" i="0">
                <a:solidFill>
                  <a:srgbClr val="E2E8F0"/>
                </a:solidFill>
                <a:latin typeface="Consolas"/>
              </a:defRPr>
            </a:pPr>
            <a:r>
              <a:t>$0.50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Embeddings (small)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603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100" b="0" i="0">
                <a:solidFill>
                  <a:srgbClr val="E2E8F0"/>
                </a:solidFill>
                <a:latin typeface="Consolas"/>
              </a:defRPr>
            </a:pPr>
            <a:r>
              <a:t>$0.001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98064"/>
            <a:ext cx="3474720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5292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1" i="0">
                <a:solidFill>
                  <a:srgbClr val="F5BF03"/>
                </a:solidFill>
                <a:latin typeface="Calibri"/>
              </a:defRPr>
            </a:pPr>
            <a:r>
              <a:t>Per-run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8529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200" b="1" i="0">
                <a:solidFill>
                  <a:srgbClr val="F5BF03"/>
                </a:solidFill>
                <a:latin typeface="Consolas"/>
              </a:defRPr>
            </a:pPr>
            <a:r>
              <a:t>≈ $0.56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63824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1" i="0">
                <a:solidFill>
                  <a:srgbClr val="F5BF03"/>
                </a:solidFill>
                <a:latin typeface="Calibri"/>
              </a:defRPr>
            </a:pPr>
            <a:r>
              <a:t>Chat &amp; Ingestion (per item)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1985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Chat message (GPT-4o)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419856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100" b="0" i="0">
                <a:solidFill>
                  <a:srgbClr val="E2E8F0"/>
                </a:solidFill>
                <a:latin typeface="Consolas"/>
              </a:defRPr>
            </a:pPr>
            <a:r>
              <a:t>$0.01–0.05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3931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Video ingestion (summary)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6393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100" b="0" i="0">
                <a:solidFill>
                  <a:srgbClr val="E2E8F0"/>
                </a:solidFill>
                <a:latin typeface="Consolas"/>
              </a:defRPr>
            </a:pPr>
            <a:r>
              <a:t>$0.04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1051560"/>
            <a:ext cx="3977639" cy="36118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1056131"/>
            <a:ext cx="3703320" cy="36576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7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Monthly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157276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000" b="0" i="1">
                <a:solidFill>
                  <a:srgbClr val="4A5568"/>
                </a:solidFill>
                <a:latin typeface="Consolas"/>
              </a:defRPr>
            </a:pPr>
            <a:r>
              <a:t>GCE e2-small  ·  asia-southeast1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192024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VM e2-small (2 vCPU, 2GB)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92024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100" b="0" i="0">
                <a:solidFill>
                  <a:srgbClr val="E2E8F0"/>
                </a:solidFill>
                <a:latin typeface="Consolas"/>
              </a:defRPr>
            </a:pPr>
            <a:r>
              <a:t>$13.70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21945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Persistent disk 50GB (std)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19456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100" b="0" i="0">
                <a:solidFill>
                  <a:srgbClr val="E2E8F0"/>
                </a:solidFill>
                <a:latin typeface="Consolas"/>
              </a:defRPr>
            </a:pPr>
            <a:r>
              <a:t>$2.00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2468879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External IP (attached)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468879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100" b="0" i="0">
                <a:solidFill>
                  <a:srgbClr val="E2E8F0"/>
                </a:solidFill>
                <a:latin typeface="Consolas"/>
              </a:defRPr>
            </a:pPr>
            <a:r>
              <a:t>free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2743199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Network egress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2743199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100" b="0" i="0">
                <a:solidFill>
                  <a:srgbClr val="E2E8F0"/>
                </a:solidFill>
                <a:latin typeface="Consolas"/>
              </a:defRPr>
            </a:pPr>
            <a:r>
              <a:t>&lt; $3.00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3035807"/>
            <a:ext cx="3474720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3108959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1" i="0">
                <a:solidFill>
                  <a:srgbClr val="0EB5A8"/>
                </a:solidFill>
                <a:latin typeface="Calibri"/>
              </a:defRPr>
            </a:pPr>
            <a:r>
              <a:t>Monthly total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108959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200" b="1" i="0">
                <a:solidFill>
                  <a:srgbClr val="0EB5A8"/>
                </a:solidFill>
                <a:latin typeface="Consolas"/>
              </a:defRPr>
            </a:pPr>
            <a:r>
              <a:t>≈ $16 USD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3383279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Daily run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3383279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100" b="0" i="0">
                <a:solidFill>
                  <a:srgbClr val="E2E8F0"/>
                </a:solidFill>
                <a:latin typeface="Consolas"/>
              </a:defRPr>
            </a:pPr>
            <a:r>
              <a:t>≈ $0.55/day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Key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Architectural trade-offs that shaped YTSage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841248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01851"/>
            <a:ext cx="7955279" cy="36576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54864" cy="502920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0EB5A8"/>
                </a:solidFill>
                <a:latin typeface="Georgia" panose="02040502050405090303"/>
              </a:defRPr>
            </a:pPr>
            <a:r>
              <a:t>RAG-First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298448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All LLM calls receive vector-store context instead of raw transcripts.</a:t>
            </a:r>
            <a:br/>
            <a:r>
              <a:t>Scales to 100K+ token videos without blowing the context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29967"/>
            <a:ext cx="8229600" cy="841248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034539"/>
            <a:ext cx="7955279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231136"/>
            <a:ext cx="54864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311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A78BFA"/>
                </a:solidFill>
                <a:latin typeface="Georgia" panose="02040502050405090303"/>
              </a:defRPr>
            </a:pPr>
            <a:r>
              <a:t>Dual LLM Paths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31136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Replicate for batch calls (cheaper, OK latency) vs. OpenAI direct</a:t>
            </a:r>
            <a:br/>
            <a:r>
              <a:t>for chat streaming (lower latency, token-by-token SSE).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62656"/>
            <a:ext cx="8229600" cy="841248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67227"/>
            <a:ext cx="7955279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163824"/>
            <a:ext cx="54864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6382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60A5FA"/>
                </a:solidFill>
                <a:latin typeface="Georgia" panose="02040502050405090303"/>
              </a:defRPr>
            </a:pPr>
            <a:r>
              <a:t>SSE over WebSockets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63824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Simpler server lifecycle — no connection state to manage.</a:t>
            </a:r>
            <a:br/>
            <a:r>
              <a:t>Easier client reconnection with polling fallback.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95344"/>
            <a:ext cx="8229600" cy="841248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899915"/>
            <a:ext cx="7955279" cy="36576"/>
          </a:xfrm>
          <a:prstGeom prst="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96511"/>
            <a:ext cx="54864" cy="502920"/>
          </a:xfrm>
          <a:prstGeom prst="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96511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" b="1" i="0">
                <a:solidFill>
                  <a:srgbClr val="F5BF03"/>
                </a:solidFill>
                <a:latin typeface="Georgia" panose="02040502050405090303"/>
              </a:defRPr>
            </a:pPr>
            <a:r>
              <a:t>Hybrid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096511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Never drops messages — compresses overflow into a running summary.</a:t>
            </a:r>
            <a:br/>
            <a:r>
              <a:t>Watermark prevents re-summarizing the same messages twice.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3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3931920" cy="29260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056131"/>
            <a:ext cx="3657600" cy="36576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800" b="1" i="0">
                <a:solidFill>
                  <a:srgbClr val="0EB5A8"/>
                </a:solidFill>
                <a:latin typeface="Georgia" panose="02040502050405090303"/>
              </a:defRPr>
            </a:pPr>
            <a:r>
              <a:t>Short Term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56231"/>
            <a:ext cx="91440" cy="91440"/>
          </a:xfrm>
          <a:prstGeom prst="ellipse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Build chat frontend UI with real-time</a:t>
            </a:r>
            <a:br/>
            <a:r>
              <a:t>SSE consumption and source display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95144"/>
            <a:ext cx="91440" cy="91440"/>
          </a:xfrm>
          <a:prstGeom prst="ellipse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21991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Enforce cost cap middleware</a:t>
            </a:r>
            <a:br/>
            <a:r>
              <a:t>(MAX_COST_PER_SESSION_SGD)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734056"/>
            <a:ext cx="91440" cy="91440"/>
          </a:xfrm>
          <a:prstGeom prst="ellipse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60903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Wire citation mapper into pipeline</a:t>
            </a:r>
            <a:br/>
            <a:r>
              <a:t>for claim → timestamp linking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72968"/>
            <a:ext cx="91440" cy="91440"/>
          </a:xfrm>
          <a:prstGeom prst="ellipse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99815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Persistent job storage (Redis/DB)</a:t>
            </a:r>
            <a:br/>
            <a:r>
              <a:t>to survive server restarts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051560"/>
            <a:ext cx="3931920" cy="2926080"/>
          </a:xfrm>
          <a:prstGeom prst="round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056131"/>
            <a:ext cx="3657600" cy="36576"/>
          </a:xfrm>
          <a:prstGeom prst="rect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800" b="1" i="0">
                <a:solidFill>
                  <a:srgbClr val="F5BF03"/>
                </a:solidFill>
                <a:latin typeface="Georgia" panose="02040502050405090303"/>
              </a:defRPr>
            </a:pPr>
            <a:r>
              <a:t>Long Term</a:t>
            </a:r>
          </a:p>
        </p:txBody>
      </p:sp>
      <p:sp>
        <p:nvSpPr>
          <p:cNvPr id="17" name="Oval 16"/>
          <p:cNvSpPr/>
          <p:nvPr/>
        </p:nvSpPr>
        <p:spPr>
          <a:xfrm>
            <a:off x="5074920" y="1856231"/>
            <a:ext cx="91440" cy="91440"/>
          </a:xfrm>
          <a:prstGeom prst="ellipse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78308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Multi-video knowledge bases for</a:t>
            </a:r>
            <a:br/>
            <a:r>
              <a:t>cross-referencing entire lecture series</a:t>
            </a:r>
          </a:p>
        </p:txBody>
      </p:sp>
      <p:sp>
        <p:nvSpPr>
          <p:cNvPr id="19" name="Oval 18"/>
          <p:cNvSpPr/>
          <p:nvPr/>
        </p:nvSpPr>
        <p:spPr>
          <a:xfrm>
            <a:off x="5074920" y="2295144"/>
            <a:ext cx="91440" cy="91440"/>
          </a:xfrm>
          <a:prstGeom prst="ellipse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2221991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Personalized learning paths based</a:t>
            </a:r>
            <a:br/>
            <a:r>
              <a:t>on chat interactions and weak topics</a:t>
            </a:r>
          </a:p>
        </p:txBody>
      </p:sp>
      <p:sp>
        <p:nvSpPr>
          <p:cNvPr id="21" name="Oval 20"/>
          <p:cNvSpPr/>
          <p:nvPr/>
        </p:nvSpPr>
        <p:spPr>
          <a:xfrm>
            <a:off x="5074920" y="2734056"/>
            <a:ext cx="91440" cy="91440"/>
          </a:xfrm>
          <a:prstGeom prst="ellipse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660903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Export to study materials: flashcards,</a:t>
            </a:r>
            <a:br/>
            <a:r>
              <a:t>quizzes, and structured notes</a:t>
            </a:r>
          </a:p>
        </p:txBody>
      </p:sp>
      <p:sp>
        <p:nvSpPr>
          <p:cNvPr id="23" name="Oval 22"/>
          <p:cNvSpPr/>
          <p:nvPr/>
        </p:nvSpPr>
        <p:spPr>
          <a:xfrm>
            <a:off x="5074920" y="3172968"/>
            <a:ext cx="91440" cy="91440"/>
          </a:xfrm>
          <a:prstGeom prst="ellipse">
            <a:avLst/>
          </a:prstGeom>
          <a:solidFill>
            <a:srgbClr val="F5B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3099815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Support podcasts, uploaded videos,</a:t>
            </a:r>
            <a:br/>
            <a:r>
              <a:t>and live stream sources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206240"/>
            <a:ext cx="6949440" cy="548640"/>
          </a:xfrm>
          <a:prstGeom prst="roundRect">
            <a:avLst/>
          </a:prstGeom>
          <a:solidFill>
            <a:srgbClr val="145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261104"/>
            <a:ext cx="6949440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400" b="0" i="1">
                <a:solidFill>
                  <a:srgbClr val="0EB5A8"/>
                </a:solidFill>
                <a:latin typeface="Georgia" panose="02040502050405090303"/>
              </a:defRPr>
            </a:pPr>
            <a:r>
              <a:t>"Transform passive lecture consumption into active, visual, interactive learning."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900" b="0" i="0">
                <a:solidFill>
                  <a:srgbClr val="4A5568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10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2743200"/>
            <a:ext cx="4572000" cy="4572000"/>
          </a:xfrm>
          <a:prstGeom prst="ellipse">
            <a:avLst/>
          </a:prstGeom>
          <a:solidFill>
            <a:srgbClr val="0F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3657600"/>
            <a:ext cx="3200400" cy="3200400"/>
          </a:xfrm>
          <a:prstGeom prst="ellipse">
            <a:avLst/>
          </a:prstGeom>
          <a:solidFill>
            <a:srgbClr val="0E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0" y="914400"/>
            <a:ext cx="548640" cy="36576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52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2200" b="0" i="0">
                <a:solidFill>
                  <a:srgbClr val="0EB5A8"/>
                </a:solidFill>
                <a:latin typeface="Georgia" panose="02040502050405090303"/>
              </a:defRPr>
            </a:pPr>
            <a: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468880"/>
            <a:ext cx="2194560" cy="731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500" b="1" i="0">
                <a:solidFill>
                  <a:srgbClr val="FFFFFF"/>
                </a:solidFill>
                <a:latin typeface="Georgia" panose="02040502050405090303"/>
              </a:defRPr>
            </a:pPr>
            <a:r>
              <a:t>YTSage  ·  CS5260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200" b="0" i="0">
                <a:solidFill>
                  <a:srgbClr val="0EB5A8"/>
                </a:solidFill>
                <a:latin typeface="Calibri"/>
              </a:defRPr>
            </a:pPr>
            <a:r>
              <a:t>FastAPI  ·  LangGraph  ·  ChromaDB  ·  Next.js  ·  GPT-4o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429000"/>
            <a:ext cx="2743200" cy="731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1300" b="0" i="0">
                <a:solidFill>
                  <a:srgbClr val="E2E8F0"/>
                </a:solidFill>
                <a:latin typeface="Calibri"/>
              </a:defRPr>
            </a:pPr>
            <a:r>
              <a:t>Ronak Lakhotia (A0161401Y)   ·   Shivansh Srivastava (A0328697H)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E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7671</Words>
  <Application>WPS Presentation</Application>
  <PresentationFormat>On-screen Show (4:3)</PresentationFormat>
  <Paragraphs>546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Arial</vt:lpstr>
      <vt:lpstr>Georgia</vt:lpstr>
      <vt:lpstr>Calibri</vt:lpstr>
      <vt:lpstr>Helvetica Neue</vt:lpstr>
      <vt:lpstr>Consolas</vt:lpstr>
      <vt:lpstr>Microsoft YaHei</vt:lpstr>
      <vt:lpstr>汉仪旗黑</vt:lpstr>
      <vt:lpstr>Arial Unicode MS</vt:lpstr>
      <vt:lpstr>宋体-简</vt:lpstr>
      <vt:lpstr>Thonburi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shivansh</cp:lastModifiedBy>
  <cp:revision>2</cp:revision>
  <dcterms:created xsi:type="dcterms:W3CDTF">2026-04-16T07:02:15Z</dcterms:created>
  <dcterms:modified xsi:type="dcterms:W3CDTF">2026-04-16T07:02:15Z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C79F9BA6E91BC1A17789E0694BF893BB_42</vt:lpwstr>
  </property>
  <property fmtid="{D5CDD505-2E9C-101B-9397-08002B2CF9AE}" pid="3" name="KSOProductBuildVer">
    <vt:lpwstr>1033-12.1.23158.23158</vt:lpwstr>
  </property>
</Properties>
</file>