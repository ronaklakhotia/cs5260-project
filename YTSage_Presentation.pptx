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1371600"/>
            <a:ext cx="5486400" cy="5486400"/>
          </a:xfrm>
          <a:prstGeom prst="ellipse">
            <a:avLst/>
          </a:prstGeom>
          <a:solidFill>
            <a:srgbClr val="10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2743200"/>
            <a:ext cx="4572000" cy="4572000"/>
          </a:xfrm>
          <a:prstGeom prst="ellipse">
            <a:avLst/>
          </a:prstGeom>
          <a:solidFill>
            <a:srgbClr val="0F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0E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822960"/>
            <a:ext cx="54864" cy="2011680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5600" b="1" i="0">
                <a:solidFill>
                  <a:srgbClr val="FFFFFF"/>
                </a:solidFill>
                <a:latin typeface="Georgia"/>
              </a:defRPr>
            </a:pPr>
            <a:r>
              <a:t>YTSage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2400" b="0" i="0">
                <a:solidFill>
                  <a:srgbClr val="0EB5A8"/>
                </a:solidFill>
                <a:latin typeface="Georgia"/>
              </a:defRPr>
            </a:pPr>
            <a:r>
              <a:t>AI-Powered YouTube Lecture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Agentic video summarization with LangGraph, GPT-4o,</a:t>
            </a:r>
            <a:br/>
            <a:r>
              <a:t>and Retrieval-Augmented Generation for interactive Q&amp;A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3657600" cy="7315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0">
                <a:solidFill>
                  <a:srgbClr val="8B95A8"/>
                </a:solidFill>
                <a:latin typeface="Calibri"/>
              </a:defRPr>
            </a:pPr>
            <a:r>
              <a:t>CS5260  ·  Neural Networks &amp; Deep Learning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0">
                <a:solidFill>
                  <a:srgbClr val="E2E8F0"/>
                </a:solidFill>
                <a:latin typeface="Calibri"/>
              </a:defRPr>
            </a:pPr>
            <a:r>
              <a:t>Ronak Lakhotia (A0161401Y)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0">
                <a:solidFill>
                  <a:srgbClr val="E2E8F0"/>
                </a:solidFill>
                <a:latin typeface="Calibri"/>
              </a:defRPr>
            </a:pPr>
            <a:r>
              <a:t>Shivansh Srivastava (A0328697H)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Why automate lecture synthesis?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943600" cy="105156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01851"/>
            <a:ext cx="5669280" cy="36576"/>
          </a:xfrm>
          <a:prstGeom prst="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618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600" b="1" i="0">
                <a:solidFill>
                  <a:srgbClr val="F4725C"/>
                </a:solidFill>
                <a:latin typeface="Georgia"/>
              </a:defRPr>
            </a:pPr>
            <a:r>
              <a:t>Information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A single MIT OCW lecture is 50-90 minutes. Students lack tools to</a:t>
            </a:r>
            <a:br/>
            <a:r>
              <a:t>extract structured, visual takeaways from long-form educational content.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143000"/>
            <a:ext cx="2011680" cy="960120"/>
          </a:xfrm>
          <a:prstGeom prst="roundRect">
            <a:avLst/>
          </a:prstGeom>
          <a:solidFill>
            <a:srgbClr val="1C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170432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3400" b="1" i="0">
                <a:solidFill>
                  <a:srgbClr val="F4725C"/>
                </a:solidFill>
                <a:latin typeface="Georgia"/>
              </a:defRPr>
            </a:pPr>
            <a:r>
              <a:t>60–90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66420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min avg.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04288"/>
            <a:ext cx="5943600" cy="105156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308860"/>
            <a:ext cx="5669280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600" b="1" i="0">
                <a:solidFill>
                  <a:srgbClr val="F5BF03"/>
                </a:solidFill>
                <a:latin typeface="Georgia"/>
              </a:defRPr>
            </a:pPr>
            <a:r>
              <a:t>Passive Watching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7977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Without interaction, viewers retain only 10-20% of content.</a:t>
            </a:r>
            <a:br/>
            <a:r>
              <a:t>No way to ask follow-up questions grounded in the actual transcript.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350008"/>
            <a:ext cx="2011680" cy="960120"/>
          </a:xfrm>
          <a:prstGeom prst="roundRect">
            <a:avLst/>
          </a:prstGeom>
          <a:solidFill>
            <a:srgbClr val="1C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37744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3400" b="1" i="0">
                <a:solidFill>
                  <a:srgbClr val="F5BF03"/>
                </a:solidFill>
                <a:latin typeface="Georgia"/>
              </a:defRPr>
            </a:pPr>
            <a:r>
              <a:t>10–20%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8712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11296"/>
            <a:ext cx="5943600" cy="105156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3515868"/>
            <a:ext cx="566928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675887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600" b="1" i="0">
                <a:solidFill>
                  <a:srgbClr val="A78BFA"/>
                </a:solidFill>
                <a:latin typeface="Georgia"/>
              </a:defRPr>
            </a:pPr>
            <a:r>
              <a:t>No Visual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86783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Current tools (chapters, auto-captions) provide plain text only.</a:t>
            </a:r>
            <a:br/>
            <a:r>
              <a:t>No system generates visual infographic summaries from lectures.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3557015"/>
            <a:ext cx="2011680" cy="960120"/>
          </a:xfrm>
          <a:prstGeom prst="roundRect">
            <a:avLst/>
          </a:prstGeom>
          <a:solidFill>
            <a:srgbClr val="1C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58444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3400" b="1" i="0">
                <a:solidFill>
                  <a:srgbClr val="A78BFA"/>
                </a:solidFill>
                <a:latin typeface="Georgia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0782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existing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Two outputs from a single YouTube URL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931920" cy="33832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01851"/>
            <a:ext cx="3657600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2600" b="1" i="0">
                <a:solidFill>
                  <a:srgbClr val="F5BF03"/>
                </a:solidFill>
                <a:latin typeface="Georgia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2344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Visual Infographic</a:t>
            </a:r>
            <a:br/>
            <a:r>
              <a:t>Slideshow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0">
                <a:solidFill>
                  <a:srgbClr val="8B95A8"/>
                </a:solidFill>
                <a:latin typeface="Calibri"/>
              </a:defRPr>
            </a:pPr>
            <a:r>
              <a:t>Identifies the top 3 educational concepts</a:t>
            </a:r>
            <a:br/>
            <a:r>
              <a:t>in a video, generates 2 AI infographic slides</a:t>
            </a:r>
            <a:br/>
            <a:r>
              <a:t>per concept, and stitches all 6 into a</a:t>
            </a:r>
            <a:br/>
            <a:r>
              <a:t>vertical MP4 slideshow.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9718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1080×1920 MP4, H.264, 24fps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954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20954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6 slides × 5 seconds = 30s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47287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AI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447287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GPT-4o + Nano Banana Pro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097280"/>
            <a:ext cx="3931920" cy="33832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1101851"/>
            <a:ext cx="3657600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12801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2600" b="1" i="0">
                <a:solidFill>
                  <a:srgbClr val="0EB5A8"/>
                </a:solidFill>
                <a:latin typeface="Georgia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2344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RAG-Powered</a:t>
            </a:r>
            <a:br/>
            <a:r>
              <a:t>Interactive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9659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0">
                <a:solidFill>
                  <a:srgbClr val="8B95A8"/>
                </a:solidFill>
                <a:latin typeface="Calibri"/>
              </a:defRPr>
            </a:pPr>
            <a:r>
              <a:t>Embeds the transcript into a vector store,</a:t>
            </a:r>
            <a:br/>
            <a:r>
              <a:t>then enables session-based Q&amp;A grounded</a:t>
            </a:r>
            <a:br/>
            <a:r>
              <a:t>in the video. Supports streaming responses</a:t>
            </a:r>
            <a:br/>
            <a:r>
              <a:t>and conversation memory.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971800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Retrieval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97180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Top-5 chunks, cosine similarity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20954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20954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50K token sliding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447287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Streaming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47287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Server-Sent Events (SSE)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Two parallel pipelines sharing core 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051560"/>
            <a:ext cx="2743200" cy="457200"/>
          </a:xfrm>
          <a:prstGeom prst="round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500" b="1" i="0">
                <a:solidFill>
                  <a:srgbClr val="0D111E"/>
                </a:solidFill>
                <a:latin typeface="Georgia"/>
              </a:defRPr>
            </a:pPr>
            <a:r>
              <a:t>YouTube URL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508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600" b="0" i="0">
                <a:solidFill>
                  <a:srgbClr val="0EB5A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6949440" cy="457200"/>
          </a:xfrm>
          <a:prstGeom prst="roundRect">
            <a:avLst/>
          </a:prstGeom>
          <a:solidFill>
            <a:srgbClr val="23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1892807"/>
            <a:ext cx="777240" cy="201168"/>
          </a:xfrm>
          <a:prstGeom prst="round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911095"/>
            <a:ext cx="7772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800" b="1" i="0">
                <a:solidFill>
                  <a:srgbClr val="0D111E"/>
                </a:solidFill>
                <a:latin typeface="Calibri"/>
              </a:defRPr>
            </a:pPr>
            <a:r>
              <a:t>SHARED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90195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yt-dlp Metadata   ·   Transcript (4-level fallback)   ·   ChromaDB 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86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400" b="0" i="0">
                <a:solidFill>
                  <a:srgbClr val="F5BF03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286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400" b="0" i="0">
                <a:solidFill>
                  <a:srgbClr val="0EB5A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06040"/>
            <a:ext cx="3977639" cy="214884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610612"/>
            <a:ext cx="3703320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2724912"/>
            <a:ext cx="1691640" cy="219456"/>
          </a:xfrm>
          <a:prstGeom prst="round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VIDEO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27432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900" b="0" i="1">
                <a:solidFill>
                  <a:srgbClr val="4A5568"/>
                </a:solidFill>
                <a:latin typeface="Calibri"/>
              </a:defRPr>
            </a:pPr>
            <a:r>
              <a:t>LangGraph StateGraph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08960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Ingest → extract &amp; chunk transcript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01568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Planner → GPT-4o selects top 3 concepts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Script Writer → 2 infographic prompts each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86784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Video Gen → AI images → ffmpeg MP4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2606040"/>
            <a:ext cx="3977639" cy="214884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610612"/>
            <a:ext cx="3703320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937760" y="2724912"/>
            <a:ext cx="1508760" cy="219456"/>
          </a:xfrm>
          <a:prstGeom prst="round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2743200"/>
            <a:ext cx="150876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CHAT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7432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900" b="0" i="1">
                <a:solidFill>
                  <a:srgbClr val="4A5568"/>
                </a:solidFill>
                <a:latin typeface="Calibri"/>
              </a:defRPr>
            </a:pPr>
            <a:r>
              <a:t>SSE + Session-based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08960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Ingest → metadata + structured summary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401568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Embed → semantic chunks into ChromaDB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694176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Chat → 5-chunk retrieval + GPT-4o stream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986784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›  Memory → sliding window + summarization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Video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LangGraph StateGraph with conditional error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1874519" cy="228600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01851"/>
            <a:ext cx="1600199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5488" y="1280160"/>
            <a:ext cx="347472" cy="347472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500" b="1">
                <a:solidFill>
                  <a:srgbClr val="0D111E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6187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Extract transcript</a:t>
            </a:r>
            <a:br/>
            <a:r>
              <a:t>4-level fallback</a:t>
            </a:r>
            <a:br/>
            <a:r>
              <a:t>Chunk + 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79" y="201168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2200" b="0" i="0">
                <a:solidFill>
                  <a:srgbClr val="4A556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097280"/>
            <a:ext cx="1874519" cy="228600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79" y="1101851"/>
            <a:ext cx="1600199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0048" y="1280160"/>
            <a:ext cx="347472" cy="347472"/>
          </a:xfrm>
          <a:prstGeom prst="ellipse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500" b="1">
                <a:solidFill>
                  <a:srgbClr val="0D111E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126187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17373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RAG: 15 chunks</a:t>
            </a:r>
            <a:br/>
            <a:r>
              <a:t>GPT-4o (t=0.3)</a:t>
            </a:r>
            <a:br/>
            <a:r>
              <a:t>Top 3 concepts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1168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2200" b="0" i="0">
                <a:solidFill>
                  <a:srgbClr val="4A556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1097280"/>
            <a:ext cx="1874519" cy="228600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1101851"/>
            <a:ext cx="1600199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64608" y="1280160"/>
            <a:ext cx="347472" cy="34747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500" b="1">
                <a:solidFill>
                  <a:srgbClr val="0D111E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26187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Script Writer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17373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GPT-4o (t=0.4)</a:t>
            </a:r>
            <a:br/>
            <a:r>
              <a:t>2 prompts/concept</a:t>
            </a:r>
            <a:br/>
            <a:r>
              <a:t>9:16 vertical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01168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2200" b="0" i="0">
                <a:solidFill>
                  <a:srgbClr val="4A556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097280"/>
            <a:ext cx="1874519" cy="228600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86600" y="1101851"/>
            <a:ext cx="1600199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59168" y="1280160"/>
            <a:ext cx="347472" cy="347472"/>
          </a:xfrm>
          <a:prstGeom prst="ellipse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500" b="1">
                <a:solidFill>
                  <a:srgbClr val="0D111E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26187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Video 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7373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Nano Banana Pro</a:t>
            </a:r>
            <a:br/>
            <a:r>
              <a:t>3 retries + backoff</a:t>
            </a:r>
            <a:br/>
            <a:r>
              <a:t>ffmpeg stitch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657600"/>
            <a:ext cx="4114800" cy="548640"/>
          </a:xfrm>
          <a:prstGeom prst="roundRect">
            <a:avLst/>
          </a:prstGeom>
          <a:solidFill>
            <a:srgbClr val="2D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3662172"/>
            <a:ext cx="3840480" cy="36576"/>
          </a:xfrm>
          <a:prstGeom prst="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749039"/>
            <a:ext cx="1417320" cy="201168"/>
          </a:xfrm>
          <a:prstGeom prst="round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67327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800" b="1" i="0">
                <a:solidFill>
                  <a:srgbClr val="0D111E"/>
                </a:solidFill>
                <a:latin typeface="Calibri"/>
              </a:defRPr>
            </a:pPr>
            <a:r>
              <a:t>ERROR ROUTING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7490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Checks state["status"] → short-circuits to 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3657600"/>
            <a:ext cx="3840480" cy="54864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83480" y="3662172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0" y="3749039"/>
            <a:ext cx="822960" cy="20116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0" y="3767327"/>
            <a:ext cx="82296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800" b="1" i="0">
                <a:solidFill>
                  <a:srgbClr val="0D111E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376732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1080×1920 MP4  ·  6 slides  ·  5s each  ·  H.264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Transcript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4-level fallback chain with semantic chunking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4023360" cy="352044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Fallback Chain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737360"/>
            <a:ext cx="274320" cy="2743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0D111E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7556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1" i="0">
                <a:solidFill>
                  <a:srgbClr val="E2E8F0"/>
                </a:solidFill>
                <a:latin typeface="Georgia"/>
              </a:defRPr>
            </a:pPr>
            <a:r>
              <a:t>English Captions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751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YouTube manual/auto subs — free, fastest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2140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4A556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240280"/>
            <a:ext cx="274320" cy="274320"/>
          </a:xfrm>
          <a:prstGeom prst="ellipse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0D111E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856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1" i="0">
                <a:solidFill>
                  <a:srgbClr val="E2E8F0"/>
                </a:solidFill>
                <a:latin typeface="Georgia"/>
              </a:defRPr>
            </a:pPr>
            <a:r>
              <a:t>Translated Captions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7802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Any language → English via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62432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4A556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743200"/>
            <a:ext cx="274320" cy="274320"/>
          </a:xfrm>
          <a:prstGeom prst="ellipse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0D111E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6148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1" i="0">
                <a:solidFill>
                  <a:srgbClr val="E2E8F0"/>
                </a:solidFill>
                <a:latin typeface="Georgia"/>
              </a:defRPr>
            </a:pPr>
            <a:r>
              <a:t>Raw Captions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98094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Any language without translation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2724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100" b="0" i="0">
                <a:solidFill>
                  <a:srgbClr val="4A556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46120"/>
            <a:ext cx="274320" cy="274320"/>
          </a:xfrm>
          <a:prstGeom prst="ellipse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0D111E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26440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1" i="0">
                <a:solidFill>
                  <a:srgbClr val="E2E8F0"/>
                </a:solidFill>
                <a:latin typeface="Georgia"/>
              </a:defRPr>
            </a:pPr>
            <a:r>
              <a:t>Whisper STT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3863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Download audio → OpenAI Whisper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1097280"/>
            <a:ext cx="4023360" cy="15544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00600" y="1101851"/>
            <a:ext cx="374904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1280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Semantic Chunking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1645920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1. Temporal merge: raw captions → ~15s blocks</a:t>
            </a:r>
            <a:br/>
            <a:r>
              <a:t>2. RecursiveCharacterTextSplitter (LangChain)</a:t>
            </a:r>
            <a:br/>
            <a:r>
              <a:t>    chunk_size=1500, overlap=200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2834640"/>
            <a:ext cx="4023360" cy="17830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00600" y="2839212"/>
            <a:ext cx="3749040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3017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600" b="1" i="0">
                <a:solidFill>
                  <a:srgbClr val="FFFFFF"/>
                </a:solidFill>
                <a:latin typeface="Georgia"/>
              </a:defRPr>
            </a:pPr>
            <a:r>
              <a:t>ChromaDB Vector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383280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38328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text-embedding-3-small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63016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Distance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63016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Cosine similarity (HNSW)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387705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Collection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87705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yt_{video_id} — one per video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12394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4A5568"/>
                </a:solidFill>
                <a:latin typeface="Calibri"/>
              </a:defRPr>
            </a:pPr>
            <a:r>
              <a:t>Metadata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12394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0EB5A8"/>
                </a:solidFill>
                <a:latin typeface="Calibri"/>
              </a:defRPr>
            </a:pPr>
            <a:r>
              <a:t>timestamps, title, channel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From Concepts to Infographics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Planner  →  Script Writer  →  Image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560320" cy="30175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01851"/>
            <a:ext cx="2286000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9436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2200" b="1" i="0">
                <a:solidFill>
                  <a:srgbClr val="0EB5A8"/>
                </a:solidFill>
                <a:latin typeface="Georgia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344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FFFFFF"/>
                </a:solidFill>
                <a:latin typeface="Georgia"/>
              </a:defRPr>
            </a:pPr>
            <a:r>
              <a:t>Planner</a:t>
            </a:r>
            <a:br/>
            <a: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194560" cy="1645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Retrieves 15 RAG chunks, calls GPT-4o (temp=0.3) to identify the top 3 concepts. Outputs title, timestamps, and visual description.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7744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2200" b="0" i="0">
                <a:solidFill>
                  <a:srgbClr val="4A556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097280"/>
            <a:ext cx="2560320" cy="30175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79" y="1101851"/>
            <a:ext cx="22860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280160"/>
            <a:ext cx="59436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2200" b="1" i="0">
                <a:solidFill>
                  <a:srgbClr val="A78BFA"/>
                </a:solidFill>
                <a:latin typeface="Georgia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2344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FFFFFF"/>
                </a:solidFill>
                <a:latin typeface="Georgia"/>
              </a:defRPr>
            </a:pPr>
            <a:r>
              <a:t>Script</a:t>
            </a:r>
            <a:br/>
            <a:r>
              <a:t>Writer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920240"/>
            <a:ext cx="2194560" cy="1645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For each concept, generates 2 infographic prompts — overview and deep dive — for 9:16 vertical format. GPT-4o via Replicate (temp=0.4).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37744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2200" b="0" i="0">
                <a:solidFill>
                  <a:srgbClr val="4A556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097280"/>
            <a:ext cx="2560320" cy="30175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101851"/>
            <a:ext cx="2286000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280160"/>
            <a:ext cx="59436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2200" b="1" i="0">
                <a:solidFill>
                  <a:srgbClr val="F5BF03"/>
                </a:solidFill>
                <a:latin typeface="Georgia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2344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FFFFFF"/>
                </a:solidFill>
                <a:latin typeface="Georgia"/>
              </a:defRPr>
            </a:pPr>
            <a:r>
              <a:t>Image +</a:t>
            </a:r>
            <a:br/>
            <a:r>
              <a:t>Stitch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20240"/>
            <a:ext cx="2194560" cy="1645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Nano Banana Pro generates 6 images (2K). 3 retries with backoff. ffmpeg stitches into 1080×1920 MP4 at 5s per slide.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4343400"/>
            <a:ext cx="5486400" cy="457200"/>
          </a:xfrm>
          <a:prstGeom prst="roundRect">
            <a:avLst/>
          </a:prstGeom>
          <a:solidFill>
            <a:srgbClr val="145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370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1300" b="1" i="0">
                <a:solidFill>
                  <a:srgbClr val="0EB5A8"/>
                </a:solidFill>
                <a:latin typeface="Calibri"/>
              </a:defRPr>
            </a:pPr>
            <a:r>
              <a:t>Total cost per video:  ~$0.55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3891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planner $0.02 + writer $0.02 + 6 images $0.50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RAG Chat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Session-based Q&amp;A with 6-layer context assembly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4206240" cy="356616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Context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The LLM receives 6 layers of context: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920240"/>
            <a:ext cx="256032" cy="256032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System prompt (persona + rules)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49424"/>
            <a:ext cx="256032" cy="256032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67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Video metadata (title, channel)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578608"/>
            <a:ext cx="256032" cy="256032"/>
          </a:xfrm>
          <a:prstGeom prst="ellipse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9689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Structured summary (topics + takeaways)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07791"/>
            <a:ext cx="256032" cy="256032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26079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Running summary (overflowed history)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36975"/>
            <a:ext cx="256032" cy="256032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3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Recent messages (within 50K budget)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566159"/>
            <a:ext cx="256032" cy="256032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584447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Top-5 RAG chunks (appended to query)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097280"/>
            <a:ext cx="3840480" cy="356616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234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SSE Streaming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Server-Sent Events deliver responses in stages: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66360" y="1938528"/>
            <a:ext cx="777240" cy="201168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195681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193852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Search transcript, review history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66360" y="2267712"/>
            <a:ext cx="777240" cy="201168"/>
          </a:xfrm>
          <a:prstGeom prst="round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228600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267712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5 RAG chunks with timestamps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60" y="2596896"/>
            <a:ext cx="777240" cy="201168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2615184"/>
            <a:ext cx="7772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59689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Token-by-token GPT-4o stream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6360" y="2926079"/>
            <a:ext cx="777240" cy="20116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66360" y="294436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done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926079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Full response saved to SQLite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66360" y="3255263"/>
            <a:ext cx="777240" cy="201168"/>
          </a:xfrm>
          <a:prstGeom prst="round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60" y="3273551"/>
            <a:ext cx="7772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error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3255263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Graceful fallback handling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Conversation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Token-budget sliding window with rolling summaries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4754880" cy="228600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FFFFFF"/>
                </a:solidFill>
                <a:latin typeface="Georgia"/>
              </a:defRPr>
            </a:pPr>
            <a: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YTSage never drops messages — it summarizes them.</a:t>
            </a:r>
            <a:br/>
            <a:r>
              <a:t>Older messages are compressed into a running summary</a:t>
            </a:r>
            <a:br/>
            <a:r>
              <a:t>via GPT-4o when the 50K token budget is exceeded.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94560"/>
            <a:ext cx="237744" cy="23774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03703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Walk backward through messages, counting tokens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468879"/>
            <a:ext cx="237744" cy="23774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78023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Find cutoff where tokens exceed 50K budget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743199"/>
            <a:ext cx="237744" cy="23774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52343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Summarize overflow into running_summary (GPT-4o)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17519"/>
            <a:ext cx="237744" cy="23774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D111E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026663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Store summary_watermark to avoid re-computation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1097280"/>
            <a:ext cx="3291840" cy="2286000"/>
          </a:xfrm>
          <a:prstGeom prst="roundRect">
            <a:avLst/>
          </a:prstGeom>
          <a:solidFill>
            <a:srgbClr val="1C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11887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500" b="1" i="0">
                <a:solidFill>
                  <a:srgbClr val="FFFFFF"/>
                </a:solidFill>
                <a:latin typeface="Georgia"/>
              </a:defRPr>
            </a:pPr>
            <a:r>
              <a:t>Context Stack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0" y="1600200"/>
            <a:ext cx="2926080" cy="310896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96128" y="1636776"/>
            <a:ext cx="54864" cy="2377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636776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E2E8F0"/>
                </a:solidFill>
                <a:latin typeface="Calibri"/>
              </a:defRPr>
            </a:pPr>
            <a:r>
              <a:t>System Prompt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77840" y="1956816"/>
            <a:ext cx="2926080" cy="310896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96128" y="1993392"/>
            <a:ext cx="54864" cy="237744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1993392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E2E8F0"/>
                </a:solidFill>
                <a:latin typeface="Calibri"/>
              </a:defRPr>
            </a:pPr>
            <a:r>
              <a:t>Video 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313432"/>
            <a:ext cx="2926080" cy="310896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96128" y="2350008"/>
            <a:ext cx="54864" cy="23774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2350008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E2E8F0"/>
                </a:solidFill>
                <a:latin typeface="Calibri"/>
              </a:defRPr>
            </a:pPr>
            <a:r>
              <a:t>Running Summary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2670048"/>
            <a:ext cx="2926080" cy="310896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96128" y="2706624"/>
            <a:ext cx="54864" cy="237744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2706624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E2E8F0"/>
                </a:solidFill>
                <a:latin typeface="Calibri"/>
              </a:defRPr>
            </a:pPr>
            <a:r>
              <a:t>Recent Messages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026664"/>
            <a:ext cx="2926080" cy="310896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96128" y="3063240"/>
            <a:ext cx="54864" cy="23774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0" y="3063240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1" i="0">
                <a:solidFill>
                  <a:srgbClr val="E2E8F0"/>
                </a:solidFill>
                <a:latin typeface="Calibri"/>
              </a:defRPr>
            </a:pPr>
            <a:r>
              <a:t>RAG Chunks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657600"/>
            <a:ext cx="8229600" cy="8686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74903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FFFFFF"/>
                </a:solidFill>
                <a:latin typeface="Georgia"/>
              </a:defRPr>
            </a:pPr>
            <a:r>
              <a:t>Persistence: SQLite (WAL mode)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069080"/>
            <a:ext cx="7680960" cy="384048"/>
          </a:xfrm>
          <a:prstGeom prst="roundRect">
            <a:avLst/>
          </a:prstGeom>
          <a:solidFill>
            <a:srgbClr val="1C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096512"/>
            <a:ext cx="740664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900" b="0" i="0">
                <a:solidFill>
                  <a:srgbClr val="0EB5A8"/>
                </a:solidFill>
                <a:latin typeface="Consolas"/>
              </a:defRPr>
            </a:pPr>
            <a:r>
              <a:t>sessions(chat_id, video_id, running_summary, watermark) | messages(id, chat_id, role, content)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5 specialized system prompts drive the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8229600" cy="8686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056131"/>
            <a:ext cx="7955279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188719"/>
            <a:ext cx="864108" cy="219456"/>
          </a:xfrm>
          <a:prstGeom prst="round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07007"/>
            <a:ext cx="864108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PLANNER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39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1">
                <a:solidFill>
                  <a:srgbClr val="E2E8F0"/>
                </a:solidFill>
                <a:latin typeface="Calibri"/>
              </a:defRPr>
            </a:pPr>
            <a:r>
              <a:t>"Identify top 3 most important, distinct concepts.</a:t>
            </a:r>
            <a:br/>
            <a:r>
              <a:t>Rank by educational value and explainability."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216151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onsolas"/>
              </a:defRPr>
            </a:pPr>
            <a:r>
              <a:t>t=0.3 · 1500 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8229600" cy="8686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016252"/>
            <a:ext cx="7955279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1330452" cy="219456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67128"/>
            <a:ext cx="1330452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SCRIPT WRITER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2316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1">
                <a:solidFill>
                  <a:srgbClr val="E2E8F0"/>
                </a:solidFill>
                <a:latin typeface="Calibri"/>
              </a:defRPr>
            </a:pPr>
            <a:r>
              <a:t>"Write concise 30-second narration scripts. Under 80 words.</a:t>
            </a:r>
            <a:br/>
            <a:r>
              <a:t>Start with a hook, end with memorable takeaway."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1762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onsolas"/>
              </a:defRPr>
            </a:pPr>
            <a:r>
              <a:t>t=0.4 · 2000 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71800"/>
            <a:ext cx="8229600" cy="8686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2976372"/>
            <a:ext cx="7955279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3108960"/>
            <a:ext cx="864108" cy="219456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27248"/>
            <a:ext cx="864108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38328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1">
                <a:solidFill>
                  <a:srgbClr val="E2E8F0"/>
                </a:solidFill>
                <a:latin typeface="Calibri"/>
              </a:defRPr>
            </a:pPr>
            <a:r>
              <a:t>"Produce rich, human-readable summary. Detailed summary is</a:t>
            </a:r>
            <a:br/>
            <a:r>
              <a:t>most critical: include names, examples, anecdotes, data."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13639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onsolas"/>
              </a:defRPr>
            </a:pPr>
            <a:r>
              <a:t>t=0.3 · ChatOpenAI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31920"/>
            <a:ext cx="8229600" cy="8686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936491"/>
            <a:ext cx="7955279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" y="4069080"/>
            <a:ext cx="630936" cy="219456"/>
          </a:xfrm>
          <a:prstGeom prst="round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87368"/>
            <a:ext cx="630936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900" b="1" i="0">
                <a:solidFill>
                  <a:srgbClr val="0D111E"/>
                </a:solidFill>
                <a:latin typeface="Calibri"/>
              </a:defRPr>
            </a:pPr>
            <a:r>
              <a:t>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4340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1">
                <a:solidFill>
                  <a:srgbClr val="E2E8F0"/>
                </a:solidFill>
                <a:latin typeface="Calibri"/>
              </a:defRPr>
            </a:pPr>
            <a:r>
              <a:t>"Answer questions about a YouTube video. Cite timestamps</a:t>
            </a:r>
            <a:br/>
            <a:r>
              <a:t>using [MM:SS] format. If info unavailable, say so."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096511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onsolas"/>
              </a:defRPr>
            </a:pPr>
            <a:r>
              <a:t>t=0.3 · astream()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2560320" cy="16459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56131"/>
            <a:ext cx="2286000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527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60A5FA"/>
                </a:solidFill>
                <a:latin typeface="Georgia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FastAPI + Uvicorn</a:t>
            </a:r>
            <a:br/>
            <a:r>
              <a:t>Pydantic-settings, async-first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051560"/>
            <a:ext cx="2560320" cy="16459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056131"/>
            <a:ext cx="2286000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2527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0EB5A8"/>
                </a:solidFill>
                <a:latin typeface="Georgia"/>
              </a:defRPr>
            </a:pPr>
            <a:r>
              <a:t>AI 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6002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LangGraph (StateGraph)</a:t>
            </a:r>
            <a:br/>
            <a:r>
              <a:t>Conditional edges, error routing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051560"/>
            <a:ext cx="2560320" cy="16459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056131"/>
            <a:ext cx="22860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2527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A78BFA"/>
                </a:solidFill>
                <a:latin typeface="Georgia"/>
              </a:defRPr>
            </a:pPr>
            <a:r>
              <a:t>LLM +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6002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GPT-4o via Replicate + OpenAI</a:t>
            </a:r>
            <a:br/>
            <a:r>
              <a:t>Nano Banana Pro (images)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2560320" cy="16459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022091"/>
            <a:ext cx="2286000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186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F5BF03"/>
                </a:solidFill>
                <a:latin typeface="Georgia"/>
              </a:defRPr>
            </a:pPr>
            <a:r>
              <a:t>Vector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661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ChromaDB (PersistentClient)</a:t>
            </a:r>
            <a:br/>
            <a:r>
              <a:t>text-embedding-3-small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3017520"/>
            <a:ext cx="2560320" cy="16459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022091"/>
            <a:ext cx="2286000" cy="36576"/>
          </a:xfrm>
          <a:prstGeom prst="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32186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F4725C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5661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Next.js 16 + React 19</a:t>
            </a:r>
            <a:br/>
            <a:r>
              <a:t>TypeScript, Tailwind CSS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017520"/>
            <a:ext cx="2560320" cy="164592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022091"/>
            <a:ext cx="22860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2186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34D399"/>
                </a:solidFill>
                <a:latin typeface="Georgia"/>
              </a:defRPr>
            </a:pPr>
            <a:r>
              <a:t>Persistence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5661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SQLite (WAL) + ChromaDB</a:t>
            </a:r>
            <a:br/>
            <a:r>
              <a:t>File cache (SHA256-keyed)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Cost &amp; Design Decisions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3977639" cy="36118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700" b="1" i="0">
                <a:solidFill>
                  <a:srgbClr val="FFFFFF"/>
                </a:solidFill>
                <a:latin typeface="Georgia"/>
              </a:defRPr>
            </a:pPr>
            <a:r>
              <a:t>Cost Per Pipeline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Planner (GPT-4o)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64592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~$0.02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Script Writer (GPT-4o)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019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~$0.02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57984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6 images (Nano Banana Pro)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579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~$0.50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1401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Embeddings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1401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~$0.001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7004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Summary (GPT-4o)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6700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1200" b="0" i="0">
                <a:solidFill>
                  <a:srgbClr val="E2E8F0"/>
                </a:solidFill>
                <a:latin typeface="Calibri"/>
              </a:defRPr>
            </a:pPr>
            <a:r>
              <a:t>~$0.02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71800"/>
            <a:ext cx="3474720" cy="1371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3580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500" b="1" i="0">
                <a:solidFill>
                  <a:srgbClr val="F5BF03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035808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1500" b="1" i="0">
                <a:solidFill>
                  <a:srgbClr val="F5BF03"/>
                </a:solidFill>
                <a:latin typeface="Calibri"/>
              </a:defRPr>
            </a:pPr>
            <a:r>
              <a:t>≈ $0.55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83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1">
                <a:solidFill>
                  <a:srgbClr val="4A5568"/>
                </a:solidFill>
                <a:latin typeface="Calibri"/>
              </a:defRPr>
            </a:pPr>
            <a:r>
              <a:t>Budget: SGD 10 → ~18 pipeline runs</a:t>
            </a:r>
            <a:br/>
            <a:r>
              <a:t>or ~1,000 chat messages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1051560"/>
            <a:ext cx="3977639" cy="36118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11887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700" b="1" i="0">
                <a:solidFill>
                  <a:srgbClr val="FFFFFF"/>
                </a:solidFill>
                <a:latin typeface="Georgia"/>
              </a:defRPr>
            </a:pPr>
            <a:r>
              <a:t>Key Design Decisions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1768" y="1664208"/>
            <a:ext cx="54864" cy="475488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1645920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1" i="0">
                <a:solidFill>
                  <a:srgbClr val="0EB5A8"/>
                </a:solidFill>
                <a:latin typeface="Georgia"/>
              </a:defRPr>
            </a:pPr>
            <a:r>
              <a:t>RAG-First Retrieval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188366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LLM calls receive vector-store context,</a:t>
            </a:r>
            <a:br/>
            <a:r>
              <a:t>not raw transcripts. Handles 100K+ tokens.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1768" y="2304288"/>
            <a:ext cx="54864" cy="4754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0" y="2286000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1" i="0">
                <a:solidFill>
                  <a:srgbClr val="A78BFA"/>
                </a:solidFill>
                <a:latin typeface="Georgia"/>
              </a:defRPr>
            </a:pPr>
            <a:r>
              <a:t>Dual LLM Paths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52374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Replicate for batch (cheap) vs. OpenAI</a:t>
            </a:r>
            <a:br/>
            <a:r>
              <a:t>direct for streaming (low-latency).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1768" y="2944368"/>
            <a:ext cx="54864" cy="47548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2926080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1" i="0">
                <a:solidFill>
                  <a:srgbClr val="60A5FA"/>
                </a:solidFill>
                <a:latin typeface="Georgia"/>
              </a:defRPr>
            </a:pPr>
            <a:r>
              <a:t>SSE over WebSockets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16382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Simpler lifecycle management. Polling</a:t>
            </a:r>
            <a:br/>
            <a:r>
              <a:t>fallback for reconnection reliability.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1768" y="3584448"/>
            <a:ext cx="54864" cy="475488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0" y="3566160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1" i="0">
                <a:solidFill>
                  <a:srgbClr val="F5BF03"/>
                </a:solidFill>
                <a:latin typeface="Georgia"/>
              </a:defRPr>
            </a:pPr>
            <a:r>
              <a:t>Hybrid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80390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Never drops messages — summarizes</a:t>
            </a:r>
            <a:br/>
            <a:r>
              <a:t>them. Watermark avoids re-computation.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3200" b="1" i="0">
                <a:solidFill>
                  <a:srgbClr val="FFFFFF"/>
                </a:solidFill>
                <a:latin typeface="Georgia"/>
              </a:defRPr>
            </a:pPr>
            <a:r>
              <a:t>Future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3931920" cy="29260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56131"/>
            <a:ext cx="3657600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0EB5A8"/>
                </a:solidFill>
                <a:latin typeface="Georgia"/>
              </a:defRPr>
            </a:pPr>
            <a:r>
              <a:t>Short Term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56231"/>
            <a:ext cx="91440" cy="91440"/>
          </a:xfrm>
          <a:prstGeom prst="ellipse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Build chat frontend UI with real-time</a:t>
            </a:r>
            <a:br/>
            <a:r>
              <a:t>SSE consumption and source display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295144"/>
            <a:ext cx="91440" cy="91440"/>
          </a:xfrm>
          <a:prstGeom prst="ellipse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1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Enforce cost cap middleware</a:t>
            </a:r>
            <a:br/>
            <a:r>
              <a:t>(MAX_COST_PER_SESSION_SGD)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734056"/>
            <a:ext cx="91440" cy="91440"/>
          </a:xfrm>
          <a:prstGeom prst="ellipse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60903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Wire citation mapper into pipeline</a:t>
            </a:r>
            <a:br/>
            <a:r>
              <a:t>for claim → timestamp linking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172968"/>
            <a:ext cx="91440" cy="91440"/>
          </a:xfrm>
          <a:prstGeom prst="ellipse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99815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Persistent job storage (Redis/DB)</a:t>
            </a:r>
            <a:br/>
            <a:r>
              <a:t>to survive server restarts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3931920" cy="2926080"/>
          </a:xfrm>
          <a:prstGeom prst="roundRect">
            <a:avLst/>
          </a:prstGeom>
          <a:solidFill>
            <a:srgbClr val="15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92040" y="1056131"/>
            <a:ext cx="3657600" cy="36576"/>
          </a:xfrm>
          <a:prstGeom prst="rect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2801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800" b="1" i="0">
                <a:solidFill>
                  <a:srgbClr val="F5BF03"/>
                </a:solidFill>
                <a:latin typeface="Georgia"/>
              </a:defRPr>
            </a:pPr>
            <a:r>
              <a:t>Long Term</a:t>
            </a:r>
          </a:p>
        </p:txBody>
      </p:sp>
      <p:sp>
        <p:nvSpPr>
          <p:cNvPr id="17" name="Oval 16"/>
          <p:cNvSpPr/>
          <p:nvPr/>
        </p:nvSpPr>
        <p:spPr>
          <a:xfrm>
            <a:off x="5074920" y="1856231"/>
            <a:ext cx="91440" cy="91440"/>
          </a:xfrm>
          <a:prstGeom prst="ellipse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178308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Multi-video knowledge bases for</a:t>
            </a:r>
            <a:br/>
            <a:r>
              <a:t>cross-referencing entire lecture series</a:t>
            </a:r>
          </a:p>
        </p:txBody>
      </p:sp>
      <p:sp>
        <p:nvSpPr>
          <p:cNvPr id="19" name="Oval 18"/>
          <p:cNvSpPr/>
          <p:nvPr/>
        </p:nvSpPr>
        <p:spPr>
          <a:xfrm>
            <a:off x="5074920" y="2295144"/>
            <a:ext cx="91440" cy="91440"/>
          </a:xfrm>
          <a:prstGeom prst="ellipse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2221991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Personalized learning paths based</a:t>
            </a:r>
            <a:br/>
            <a:r>
              <a:t>on chat interactions and weak topics</a:t>
            </a:r>
          </a:p>
        </p:txBody>
      </p:sp>
      <p:sp>
        <p:nvSpPr>
          <p:cNvPr id="21" name="Oval 20"/>
          <p:cNvSpPr/>
          <p:nvPr/>
        </p:nvSpPr>
        <p:spPr>
          <a:xfrm>
            <a:off x="5074920" y="2734056"/>
            <a:ext cx="91440" cy="91440"/>
          </a:xfrm>
          <a:prstGeom prst="ellipse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2660903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Export to study materials: flashcards,</a:t>
            </a:r>
            <a:br/>
            <a:r>
              <a:t>quizzes, and structured notes</a:t>
            </a:r>
          </a:p>
        </p:txBody>
      </p:sp>
      <p:sp>
        <p:nvSpPr>
          <p:cNvPr id="23" name="Oval 22"/>
          <p:cNvSpPr/>
          <p:nvPr/>
        </p:nvSpPr>
        <p:spPr>
          <a:xfrm>
            <a:off x="5074920" y="3172968"/>
            <a:ext cx="91440" cy="91440"/>
          </a:xfrm>
          <a:prstGeom prst="ellipse">
            <a:avLst/>
          </a:prstGeom>
          <a:solidFill>
            <a:srgbClr val="F5BF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3099815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Support podcasts, uploaded videos,</a:t>
            </a:r>
            <a:br/>
            <a:r>
              <a:t>and live stream sources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206240"/>
            <a:ext cx="6949440" cy="548640"/>
          </a:xfrm>
          <a:prstGeom prst="roundRect">
            <a:avLst/>
          </a:prstGeom>
          <a:solidFill>
            <a:srgbClr val="145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261104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400" b="0" i="1">
                <a:solidFill>
                  <a:srgbClr val="0EB5A8"/>
                </a:solidFill>
                <a:latin typeface="Georgia"/>
              </a:defRPr>
            </a:pPr>
            <a:r>
              <a:t>"Transform passive lecture consumption into active, visual, interactive learning."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defRPr sz="900" b="0" i="0">
                <a:solidFill>
                  <a:srgbClr val="4A5568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1371600"/>
            <a:ext cx="5486400" cy="5486400"/>
          </a:xfrm>
          <a:prstGeom prst="ellipse">
            <a:avLst/>
          </a:prstGeom>
          <a:solidFill>
            <a:srgbClr val="101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2743200"/>
            <a:ext cx="4572000" cy="4572000"/>
          </a:xfrm>
          <a:prstGeom prst="ellipse">
            <a:avLst/>
          </a:prstGeom>
          <a:solidFill>
            <a:srgbClr val="0F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0E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0" y="914400"/>
            <a:ext cx="548640" cy="36576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5200" b="1" i="0">
                <a:solidFill>
                  <a:srgbClr val="FFFFFF"/>
                </a:solidFill>
                <a:latin typeface="Georgia"/>
              </a:defRPr>
            </a:pPr>
            <a: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2200" b="0" i="0">
                <a:solidFill>
                  <a:srgbClr val="0EB5A8"/>
                </a:solidFill>
                <a:latin typeface="Georgia"/>
              </a:defRPr>
            </a:pPr>
            <a: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468880"/>
            <a:ext cx="2194560" cy="7315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500" b="1" i="0">
                <a:solidFill>
                  <a:srgbClr val="FFFFFF"/>
                </a:solidFill>
                <a:latin typeface="Georgia"/>
              </a:defRPr>
            </a:pPr>
            <a:r>
              <a:t>YTSage  ·  CS5260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200" b="0" i="0">
                <a:solidFill>
                  <a:srgbClr val="0EB5A8"/>
                </a:solidFill>
                <a:latin typeface="Calibri"/>
              </a:defRPr>
            </a:pPr>
            <a:r>
              <a:t>FastAPI  ·  LangGraph  ·  ChromaDB  ·  Next.js  ·  GPT-4o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429000"/>
            <a:ext cx="2743200" cy="7315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defRPr sz="1300" b="0" i="0">
                <a:solidFill>
                  <a:srgbClr val="E2E8F0"/>
                </a:solidFill>
                <a:latin typeface="Calibri"/>
              </a:defRPr>
            </a:pPr>
            <a:r>
              <a:t>Ronak Lakhotia (A0161401Y)   ·   Shivansh Srivastava (A0328697H)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E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